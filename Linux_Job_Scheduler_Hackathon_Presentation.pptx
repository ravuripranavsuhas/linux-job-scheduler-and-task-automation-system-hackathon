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234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8778240" y="640080"/>
            <a:ext cx="2377440" cy="914400"/>
          </a:xfrm>
          <a:prstGeom prst="roundRect">
            <a:avLst/>
          </a:prstGeom>
          <a:solidFill>
            <a:srgbClr val="0091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9509760" y="1828800"/>
            <a:ext cx="1554480" cy="1554480"/>
          </a:xfrm>
          <a:prstGeom prst="roundRect">
            <a:avLst/>
          </a:prstGeom>
          <a:solidFill>
            <a:srgbClr val="2369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138160" y="3749039"/>
            <a:ext cx="2926080" cy="548640"/>
          </a:xfrm>
          <a:prstGeom prst="roundRect">
            <a:avLst/>
          </a:prstGeom>
          <a:solidFill>
            <a:srgbClr val="F096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051560"/>
            <a:ext cx="7132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 b="1">
                <a:solidFill>
                  <a:srgbClr val="78DCDC"/>
                </a:solidFill>
                <a:latin typeface="Aptos"/>
              </a:defRPr>
            </a:pPr>
            <a:r>
              <a:t>HACKATHON PROJECT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828800"/>
            <a:ext cx="75895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3400" b="1">
                <a:solidFill>
                  <a:srgbClr val="FFFFFF"/>
                </a:solidFill>
                <a:latin typeface="Aptos"/>
              </a:defRPr>
            </a:pPr>
            <a:r>
              <a:t>Linux Job Scheduler</a:t>
            </a:r>
          </a:p>
          <a:p>
            <a:pPr>
              <a:spcAft>
                <a:spcPts val="800"/>
              </a:spcAft>
              <a:defRPr sz="3400" b="1">
                <a:solidFill>
                  <a:srgbClr val="FFFFFF"/>
                </a:solidFill>
                <a:latin typeface="Aptos"/>
              </a:defRPr>
            </a:pPr>
            <a:r>
              <a:t>&amp; Task Automation System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3977639"/>
            <a:ext cx="6858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900" b="0">
                <a:solidFill>
                  <a:srgbClr val="DCE6F5"/>
                </a:solidFill>
                <a:latin typeface="Aptos"/>
              </a:defRPr>
            </a:pPr>
            <a:r>
              <a:t>Schedule tasks • Execute automatically • Track results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5989320"/>
            <a:ext cx="6217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FFFFFF"/>
                </a:solidFill>
                <a:latin typeface="Aptos"/>
              </a:defRPr>
            </a:pPr>
            <a:r>
              <a:t>Technology: Python + Linux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56032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700" b="1">
                <a:solidFill>
                  <a:srgbClr val="142341"/>
                </a:solidFill>
                <a:latin typeface="Aptos"/>
              </a:defRPr>
            </a:pPr>
            <a:r>
              <a:t>1. Project Overview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868680"/>
            <a:ext cx="10972800" cy="45720"/>
          </a:xfrm>
          <a:prstGeom prst="rect">
            <a:avLst/>
          </a:prstGeom>
          <a:solidFill>
            <a:srgbClr val="0091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109960" y="6473952"/>
            <a:ext cx="457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0">
                <a:solidFill>
                  <a:srgbClr val="646E7D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34440"/>
            <a:ext cx="10789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200" b="1">
                <a:solidFill>
                  <a:srgbClr val="142341"/>
                </a:solidFill>
                <a:latin typeface="Aptos"/>
              </a:defRPr>
            </a:pPr>
            <a:r>
              <a:t>A simple system that runs Linux commands automatically at a scheduled time.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240280"/>
            <a:ext cx="3429000" cy="2103120"/>
          </a:xfrm>
          <a:prstGeom prst="roundRect">
            <a:avLst/>
          </a:prstGeom>
          <a:solidFill>
            <a:srgbClr val="EFF6FC"/>
          </a:solidFill>
          <a:ln>
            <a:solidFill>
              <a:srgbClr val="D7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2240280"/>
            <a:ext cx="82296" cy="2103120"/>
          </a:xfrm>
          <a:prstGeom prst="rect">
            <a:avLst/>
          </a:prstGeom>
          <a:solidFill>
            <a:srgbClr val="2369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2404872"/>
            <a:ext cx="3017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 b="1">
                <a:solidFill>
                  <a:srgbClr val="142341"/>
                </a:solidFill>
                <a:latin typeface="Aptos"/>
              </a:defRPr>
            </a:pPr>
            <a:r>
              <a:t>What it does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898648"/>
            <a:ext cx="3017520" cy="1353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283241"/>
                </a:solidFill>
                <a:latin typeface="Aptos"/>
              </a:defRPr>
            </a:pPr>
            <a:r>
              <a:t>• Accepts a task name and command</a:t>
            </a:r>
          </a:p>
          <a:p>
            <a:pPr>
              <a:spcAft>
                <a:spcPts val="800"/>
              </a:spcAft>
              <a:defRPr sz="1400" b="0">
                <a:solidFill>
                  <a:srgbClr val="283241"/>
                </a:solidFill>
                <a:latin typeface="Aptos"/>
              </a:defRPr>
            </a:pPr>
            <a:r>
              <a:t>• Sets a run time</a:t>
            </a:r>
          </a:p>
          <a:p>
            <a:pPr>
              <a:spcAft>
                <a:spcPts val="800"/>
              </a:spcAft>
              <a:defRPr sz="1400" b="0">
                <a:solidFill>
                  <a:srgbClr val="283241"/>
                </a:solidFill>
                <a:latin typeface="Aptos"/>
              </a:defRPr>
            </a:pPr>
            <a:r>
              <a:t>• Executes when due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0" y="2240280"/>
            <a:ext cx="3429000" cy="2103120"/>
          </a:xfrm>
          <a:prstGeom prst="roundRect">
            <a:avLst/>
          </a:prstGeom>
          <a:solidFill>
            <a:srgbClr val="EFF6FC"/>
          </a:solidFill>
          <a:ln>
            <a:solidFill>
              <a:srgbClr val="D7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89120" y="2240280"/>
            <a:ext cx="82296" cy="2103120"/>
          </a:xfrm>
          <a:prstGeom prst="rect">
            <a:avLst/>
          </a:prstGeom>
          <a:solidFill>
            <a:srgbClr val="0091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17720" y="2404872"/>
            <a:ext cx="3017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 b="1">
                <a:solidFill>
                  <a:srgbClr val="142341"/>
                </a:solidFill>
                <a:latin typeface="Aptos"/>
              </a:defRPr>
            </a:pPr>
            <a:r>
              <a:t>Why it matters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17720" y="2898648"/>
            <a:ext cx="3017520" cy="1353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283241"/>
                </a:solidFill>
                <a:latin typeface="Aptos"/>
              </a:defRPr>
            </a:pPr>
            <a:r>
              <a:t>• Reduces repetitive manual work</a:t>
            </a:r>
          </a:p>
          <a:p>
            <a:pPr>
              <a:spcAft>
                <a:spcPts val="800"/>
              </a:spcAft>
              <a:defRPr sz="1400" b="0">
                <a:solidFill>
                  <a:srgbClr val="283241"/>
                </a:solidFill>
                <a:latin typeface="Aptos"/>
              </a:defRPr>
            </a:pPr>
            <a:r>
              <a:t>• Helps avoid missed tasks</a:t>
            </a:r>
          </a:p>
          <a:p>
            <a:pPr>
              <a:spcAft>
                <a:spcPts val="800"/>
              </a:spcAft>
              <a:defRPr sz="1400" b="0">
                <a:solidFill>
                  <a:srgbClr val="283241"/>
                </a:solidFill>
                <a:latin typeface="Aptos"/>
              </a:defRPr>
            </a:pPr>
            <a:r>
              <a:t>• Keeps a record of results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46720" y="2240280"/>
            <a:ext cx="3429000" cy="2103120"/>
          </a:xfrm>
          <a:prstGeom prst="roundRect">
            <a:avLst/>
          </a:prstGeom>
          <a:solidFill>
            <a:srgbClr val="EFF6FC"/>
          </a:solidFill>
          <a:ln>
            <a:solidFill>
              <a:srgbClr val="D7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046720" y="2240280"/>
            <a:ext cx="82296" cy="2103120"/>
          </a:xfrm>
          <a:prstGeom prst="rect">
            <a:avLst/>
          </a:prstGeom>
          <a:solidFill>
            <a:srgbClr val="F096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75320" y="2404872"/>
            <a:ext cx="3017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 b="1">
                <a:solidFill>
                  <a:srgbClr val="142341"/>
                </a:solidFill>
                <a:latin typeface="Aptos"/>
              </a:defRPr>
            </a:pPr>
            <a:r>
              <a:t>Who can use it?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75320" y="2898648"/>
            <a:ext cx="3017520" cy="1353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283241"/>
                </a:solidFill>
                <a:latin typeface="Aptos"/>
              </a:defRPr>
            </a:pPr>
            <a:r>
              <a:t>• Students and developers</a:t>
            </a:r>
          </a:p>
          <a:p>
            <a:pPr>
              <a:spcAft>
                <a:spcPts val="800"/>
              </a:spcAft>
              <a:defRPr sz="1400" b="0">
                <a:solidFill>
                  <a:srgbClr val="283241"/>
                </a:solidFill>
                <a:latin typeface="Aptos"/>
              </a:defRPr>
            </a:pPr>
            <a:r>
              <a:t>• Linux administrators</a:t>
            </a:r>
          </a:p>
          <a:p>
            <a:pPr>
              <a:spcAft>
                <a:spcPts val="800"/>
              </a:spcAft>
              <a:defRPr sz="1400" b="0">
                <a:solidFill>
                  <a:srgbClr val="283241"/>
                </a:solidFill>
                <a:latin typeface="Aptos"/>
              </a:defRPr>
            </a:pPr>
            <a:r>
              <a:t>• Small automation demos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" y="498348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 b="0">
                <a:solidFill>
                  <a:srgbClr val="283241"/>
                </a:solidFill>
                <a:latin typeface="Aptos"/>
              </a:defRPr>
            </a:pPr>
            <a:r>
              <a:t>Example: schedule “echo Hello Hackathon” to run after 10 seconds.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56032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700" b="1">
                <a:solidFill>
                  <a:srgbClr val="142341"/>
                </a:solidFill>
                <a:latin typeface="Aptos"/>
              </a:defRPr>
            </a:pPr>
            <a:r>
              <a:t>2. Problem Statement &amp; Proposed Solution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868680"/>
            <a:ext cx="10972800" cy="45720"/>
          </a:xfrm>
          <a:prstGeom prst="rect">
            <a:avLst/>
          </a:prstGeom>
          <a:solidFill>
            <a:srgbClr val="0091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109960" y="6473952"/>
            <a:ext cx="457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0">
                <a:solidFill>
                  <a:srgbClr val="646E7D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5120640" cy="3474720"/>
          </a:xfrm>
          <a:prstGeom prst="roundRect">
            <a:avLst/>
          </a:prstGeom>
          <a:solidFill>
            <a:srgbClr val="EFF6FC"/>
          </a:solidFill>
          <a:ln>
            <a:solidFill>
              <a:srgbClr val="D7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371600"/>
            <a:ext cx="82296" cy="3474720"/>
          </a:xfrm>
          <a:prstGeom prst="rect">
            <a:avLst/>
          </a:prstGeom>
          <a:solidFill>
            <a:srgbClr val="F096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536192"/>
            <a:ext cx="470915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 b="1">
                <a:solidFill>
                  <a:srgbClr val="142341"/>
                </a:solidFill>
                <a:latin typeface="Aptos"/>
              </a:defRPr>
            </a:pPr>
            <a:r>
              <a:t>Problem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2029967"/>
            <a:ext cx="4709159" cy="2724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283241"/>
                </a:solidFill>
                <a:latin typeface="Aptos"/>
              </a:defRPr>
            </a:pPr>
            <a:r>
              <a:t>• Tasks are often started manually.</a:t>
            </a:r>
          </a:p>
          <a:p>
            <a:pPr>
              <a:spcAft>
                <a:spcPts val="800"/>
              </a:spcAft>
              <a:defRPr sz="1400" b="0">
                <a:solidFill>
                  <a:srgbClr val="283241"/>
                </a:solidFill>
                <a:latin typeface="Aptos"/>
              </a:defRPr>
            </a:pPr>
            <a:r>
              <a:t>• Repeated commands consume time.</a:t>
            </a:r>
          </a:p>
          <a:p>
            <a:pPr>
              <a:spcAft>
                <a:spcPts val="800"/>
              </a:spcAft>
              <a:defRPr sz="1400" b="0">
                <a:solidFill>
                  <a:srgbClr val="283241"/>
                </a:solidFill>
                <a:latin typeface="Aptos"/>
              </a:defRPr>
            </a:pPr>
            <a:r>
              <a:t>• A user may forget to run a task.</a:t>
            </a:r>
          </a:p>
          <a:p>
            <a:pPr>
              <a:spcAft>
                <a:spcPts val="800"/>
              </a:spcAft>
              <a:defRPr sz="1400" b="0">
                <a:solidFill>
                  <a:srgbClr val="283241"/>
                </a:solidFill>
                <a:latin typeface="Aptos"/>
              </a:defRPr>
            </a:pPr>
            <a:r>
              <a:t>• It can be difficult to track task outcomes.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09360" y="1371600"/>
            <a:ext cx="5120640" cy="3474720"/>
          </a:xfrm>
          <a:prstGeom prst="roundRect">
            <a:avLst/>
          </a:prstGeom>
          <a:solidFill>
            <a:srgbClr val="EFF6FC"/>
          </a:solidFill>
          <a:ln>
            <a:solidFill>
              <a:srgbClr val="D7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309360" y="1371600"/>
            <a:ext cx="82296" cy="3474720"/>
          </a:xfrm>
          <a:prstGeom prst="rect">
            <a:avLst/>
          </a:prstGeom>
          <a:solidFill>
            <a:srgbClr val="0091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37960" y="1536192"/>
            <a:ext cx="470915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 b="1">
                <a:solidFill>
                  <a:srgbClr val="142341"/>
                </a:solidFill>
                <a:latin typeface="Aptos"/>
              </a:defRPr>
            </a:pPr>
            <a:r>
              <a:t>Our solution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37960" y="2029967"/>
            <a:ext cx="4709159" cy="2724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283241"/>
                </a:solidFill>
                <a:latin typeface="Aptos"/>
              </a:defRPr>
            </a:pPr>
            <a:r>
              <a:t>• Schedule a command for a future time.</a:t>
            </a:r>
          </a:p>
          <a:p>
            <a:pPr>
              <a:spcAft>
                <a:spcPts val="800"/>
              </a:spcAft>
              <a:defRPr sz="1400" b="0">
                <a:solidFill>
                  <a:srgbClr val="283241"/>
                </a:solidFill>
                <a:latin typeface="Aptos"/>
              </a:defRPr>
            </a:pPr>
            <a:r>
              <a:t>• Store task details in a JSON file.</a:t>
            </a:r>
          </a:p>
          <a:p>
            <a:pPr>
              <a:spcAft>
                <a:spcPts val="800"/>
              </a:spcAft>
              <a:defRPr sz="1400" b="0">
                <a:solidFill>
                  <a:srgbClr val="283241"/>
                </a:solidFill>
                <a:latin typeface="Aptos"/>
              </a:defRPr>
            </a:pPr>
            <a:r>
              <a:t>• Check for tasks that are due.</a:t>
            </a:r>
          </a:p>
          <a:p>
            <a:pPr>
              <a:spcAft>
                <a:spcPts val="800"/>
              </a:spcAft>
              <a:defRPr sz="1400" b="0">
                <a:solidFill>
                  <a:srgbClr val="283241"/>
                </a:solidFill>
                <a:latin typeface="Aptos"/>
              </a:defRPr>
            </a:pPr>
            <a:r>
              <a:t>• Execute the command and log the result.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53035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900" b="1">
                <a:solidFill>
                  <a:srgbClr val="142341"/>
                </a:solidFill>
                <a:latin typeface="Aptos"/>
              </a:defRPr>
            </a:pPr>
            <a:r>
              <a:t>Goal: make basic task scheduling easy to understand and demonstrate.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56032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700" b="1">
                <a:solidFill>
                  <a:srgbClr val="142341"/>
                </a:solidFill>
                <a:latin typeface="Aptos"/>
              </a:defRPr>
            </a:pPr>
            <a:r>
              <a:t>3. System Workflow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868680"/>
            <a:ext cx="10972800" cy="45720"/>
          </a:xfrm>
          <a:prstGeom prst="rect">
            <a:avLst/>
          </a:prstGeom>
          <a:solidFill>
            <a:srgbClr val="0091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109960" y="6473952"/>
            <a:ext cx="457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0">
                <a:solidFill>
                  <a:srgbClr val="646E7D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5" name="Oval 4"/>
          <p:cNvSpPr/>
          <p:nvPr/>
        </p:nvSpPr>
        <p:spPr>
          <a:xfrm>
            <a:off x="1005840" y="1508760"/>
            <a:ext cx="658368" cy="658368"/>
          </a:xfrm>
          <a:prstGeom prst="ellipse">
            <a:avLst/>
          </a:prstGeom>
          <a:solidFill>
            <a:srgbClr val="2369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2331720"/>
            <a:ext cx="1691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142341"/>
                </a:solidFill>
                <a:latin typeface="Aptos"/>
              </a:defRPr>
            </a:pPr>
            <a:r>
              <a:t>Enter task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2880360"/>
            <a:ext cx="17830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 b="0">
                <a:solidFill>
                  <a:srgbClr val="283241"/>
                </a:solidFill>
                <a:latin typeface="Aptos"/>
              </a:defRPr>
            </a:pPr>
            <a:r>
              <a:t>Name + Linux command</a:t>
            </a:r>
          </a:p>
        </p:txBody>
      </p:sp>
      <p:sp>
        <p:nvSpPr>
          <p:cNvPr id="8" name="Right Arrow 7"/>
          <p:cNvSpPr/>
          <p:nvPr/>
        </p:nvSpPr>
        <p:spPr>
          <a:xfrm>
            <a:off x="1920240" y="1709928"/>
            <a:ext cx="731520" cy="228600"/>
          </a:xfrm>
          <a:prstGeom prst="rightArrow">
            <a:avLst/>
          </a:prstGeom>
          <a:solidFill>
            <a:srgbClr val="B4C3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3337560" y="1508760"/>
            <a:ext cx="658368" cy="658368"/>
          </a:xfrm>
          <a:prstGeom prst="ellipse">
            <a:avLst/>
          </a:prstGeom>
          <a:solidFill>
            <a:srgbClr val="0091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834640" y="2331720"/>
            <a:ext cx="1691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142341"/>
                </a:solidFill>
                <a:latin typeface="Aptos"/>
              </a:defRPr>
            </a:pPr>
            <a:r>
              <a:t>Set delay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834640" y="2880360"/>
            <a:ext cx="17830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 b="0">
                <a:solidFill>
                  <a:srgbClr val="283241"/>
                </a:solidFill>
                <a:latin typeface="Aptos"/>
              </a:defRPr>
            </a:pPr>
            <a:r>
              <a:t>Example: 10 seconds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4251960" y="1709928"/>
            <a:ext cx="731520" cy="228600"/>
          </a:xfrm>
          <a:prstGeom prst="rightArrow">
            <a:avLst/>
          </a:prstGeom>
          <a:solidFill>
            <a:srgbClr val="B4C3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5669280" y="1508760"/>
            <a:ext cx="658368" cy="658368"/>
          </a:xfrm>
          <a:prstGeom prst="ellipse">
            <a:avLst/>
          </a:prstGeom>
          <a:solidFill>
            <a:srgbClr val="F096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166360" y="2331720"/>
            <a:ext cx="1691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142341"/>
                </a:solidFill>
                <a:latin typeface="Aptos"/>
              </a:defRPr>
            </a:pPr>
            <a:r>
              <a:t>Save task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166360" y="2880360"/>
            <a:ext cx="17830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 b="0">
                <a:solidFill>
                  <a:srgbClr val="283241"/>
                </a:solidFill>
                <a:latin typeface="Aptos"/>
              </a:defRPr>
            </a:pPr>
            <a:r>
              <a:t>Stored in tasks.json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6583680" y="1709928"/>
            <a:ext cx="731520" cy="228600"/>
          </a:xfrm>
          <a:prstGeom prst="rightArrow">
            <a:avLst/>
          </a:prstGeom>
          <a:solidFill>
            <a:srgbClr val="B4C3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001000" y="1508760"/>
            <a:ext cx="658368" cy="658368"/>
          </a:xfrm>
          <a:prstGeom prst="ellipse">
            <a:avLst/>
          </a:prstGeom>
          <a:solidFill>
            <a:srgbClr val="2369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498079" y="2331720"/>
            <a:ext cx="1691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142341"/>
                </a:solidFill>
                <a:latin typeface="Aptos"/>
              </a:defRPr>
            </a:pPr>
            <a:r>
              <a:t>Check time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98079" y="2880360"/>
            <a:ext cx="17830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 b="0">
                <a:solidFill>
                  <a:srgbClr val="283241"/>
                </a:solidFill>
                <a:latin typeface="Aptos"/>
              </a:defRPr>
            </a:pPr>
            <a:r>
              <a:t>Scheduler checks every second</a:t>
            </a:r>
          </a:p>
        </p:txBody>
      </p:sp>
      <p:sp>
        <p:nvSpPr>
          <p:cNvPr id="20" name="Right Arrow 19"/>
          <p:cNvSpPr/>
          <p:nvPr/>
        </p:nvSpPr>
        <p:spPr>
          <a:xfrm>
            <a:off x="8915400" y="1709928"/>
            <a:ext cx="731520" cy="228600"/>
          </a:xfrm>
          <a:prstGeom prst="rightArrow">
            <a:avLst/>
          </a:prstGeom>
          <a:solidFill>
            <a:srgbClr val="B4C3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0332720" y="1508760"/>
            <a:ext cx="658368" cy="658368"/>
          </a:xfrm>
          <a:prstGeom prst="ellipse">
            <a:avLst/>
          </a:prstGeom>
          <a:solidFill>
            <a:srgbClr val="0091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FFFFFF"/>
                </a:solidFill>
              </a:defRPr>
            </a:pPr>
            <a:r>
              <a:t>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829800" y="2331720"/>
            <a:ext cx="1691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142341"/>
                </a:solidFill>
                <a:latin typeface="Aptos"/>
              </a:defRPr>
            </a:pPr>
            <a:r>
              <a:t>Execute &amp; log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829800" y="2880360"/>
            <a:ext cx="17830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 b="0">
                <a:solidFill>
                  <a:srgbClr val="283241"/>
                </a:solidFill>
                <a:latin typeface="Aptos"/>
              </a:defRPr>
            </a:pPr>
            <a:r>
              <a:t>Status saved; output in log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14400" y="4572000"/>
            <a:ext cx="10241280" cy="914400"/>
          </a:xfrm>
          <a:prstGeom prst="roundRect">
            <a:avLst/>
          </a:prstGeom>
          <a:solidFill>
            <a:srgbClr val="EFF6FC"/>
          </a:solidFill>
          <a:ln>
            <a:solidFill>
              <a:srgbClr val="D7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914400" y="4572000"/>
            <a:ext cx="82296" cy="914400"/>
          </a:xfrm>
          <a:prstGeom prst="rect">
            <a:avLst/>
          </a:prstGeom>
          <a:solidFill>
            <a:srgbClr val="0091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143000" y="4736592"/>
            <a:ext cx="9829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 b="1">
                <a:solidFill>
                  <a:srgbClr val="142341"/>
                </a:solidFill>
                <a:latin typeface="Aptos"/>
              </a:defRPr>
            </a:pPr>
            <a:r>
              <a:t>Files created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43000" y="5230368"/>
            <a:ext cx="9829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283241"/>
                </a:solidFill>
                <a:latin typeface="Aptos"/>
              </a:defRPr>
            </a:pPr>
            <a:r>
              <a:t>tasks.json = saved tasks     |     scheduler.log = execution history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56032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700" b="1">
                <a:solidFill>
                  <a:srgbClr val="142341"/>
                </a:solidFill>
                <a:latin typeface="Aptos"/>
              </a:defRPr>
            </a:pPr>
            <a:r>
              <a:t>4. Main Features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868680"/>
            <a:ext cx="10972800" cy="45720"/>
          </a:xfrm>
          <a:prstGeom prst="rect">
            <a:avLst/>
          </a:prstGeom>
          <a:solidFill>
            <a:srgbClr val="0091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109960" y="6473952"/>
            <a:ext cx="457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0">
                <a:solidFill>
                  <a:srgbClr val="646E7D"/>
                </a:solidFill>
                <a:latin typeface="Aptos"/>
              </a:defRPr>
            </a:pPr>
            <a:r>
              <a:t>5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25880"/>
            <a:ext cx="3291840" cy="1600200"/>
          </a:xfrm>
          <a:prstGeom prst="roundRect">
            <a:avLst/>
          </a:prstGeom>
          <a:solidFill>
            <a:srgbClr val="EFF6FC"/>
          </a:solidFill>
          <a:ln>
            <a:solidFill>
              <a:srgbClr val="D7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325880"/>
            <a:ext cx="82296" cy="1600200"/>
          </a:xfrm>
          <a:prstGeom prst="rect">
            <a:avLst/>
          </a:prstGeom>
          <a:solidFill>
            <a:srgbClr val="2369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490472"/>
            <a:ext cx="2880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 b="1">
                <a:solidFill>
                  <a:srgbClr val="142341"/>
                </a:solidFill>
                <a:latin typeface="Aptos"/>
              </a:defRPr>
            </a:pPr>
            <a:r>
              <a:t>Schedule a task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1984248"/>
            <a:ext cx="2880360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283241"/>
                </a:solidFill>
                <a:latin typeface="Aptos"/>
              </a:defRPr>
            </a:pPr>
            <a:r>
              <a:t>Enter a name, command, and delay.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34840" y="1325880"/>
            <a:ext cx="3291840" cy="1600200"/>
          </a:xfrm>
          <a:prstGeom prst="roundRect">
            <a:avLst/>
          </a:prstGeom>
          <a:solidFill>
            <a:srgbClr val="EFF6FC"/>
          </a:solidFill>
          <a:ln>
            <a:solidFill>
              <a:srgbClr val="D7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434840" y="1325880"/>
            <a:ext cx="82296" cy="1600200"/>
          </a:xfrm>
          <a:prstGeom prst="rect">
            <a:avLst/>
          </a:prstGeom>
          <a:solidFill>
            <a:srgbClr val="0091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63440" y="1490472"/>
            <a:ext cx="2880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 b="1">
                <a:solidFill>
                  <a:srgbClr val="142341"/>
                </a:solidFill>
                <a:latin typeface="Aptos"/>
              </a:defRPr>
            </a:pPr>
            <a:r>
              <a:t>Persistent storage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63440" y="1984248"/>
            <a:ext cx="2880360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283241"/>
                </a:solidFill>
                <a:latin typeface="Aptos"/>
              </a:defRPr>
            </a:pPr>
            <a:r>
              <a:t>Tasks are stored in tasks.json.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38160" y="1325880"/>
            <a:ext cx="3291840" cy="1600200"/>
          </a:xfrm>
          <a:prstGeom prst="roundRect">
            <a:avLst/>
          </a:prstGeom>
          <a:solidFill>
            <a:srgbClr val="EFF6FC"/>
          </a:solidFill>
          <a:ln>
            <a:solidFill>
              <a:srgbClr val="D7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138160" y="1325880"/>
            <a:ext cx="82296" cy="1600200"/>
          </a:xfrm>
          <a:prstGeom prst="rect">
            <a:avLst/>
          </a:prstGeom>
          <a:solidFill>
            <a:srgbClr val="F096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66760" y="1490472"/>
            <a:ext cx="2880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 b="1">
                <a:solidFill>
                  <a:srgbClr val="142341"/>
                </a:solidFill>
                <a:latin typeface="Aptos"/>
              </a:defRPr>
            </a:pPr>
            <a:r>
              <a:t>Task listing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66760" y="1984248"/>
            <a:ext cx="2880360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283241"/>
                </a:solidFill>
                <a:latin typeface="Aptos"/>
              </a:defRPr>
            </a:pPr>
            <a:r>
              <a:t>View planned execution time and status.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3429000"/>
            <a:ext cx="3291840" cy="1600200"/>
          </a:xfrm>
          <a:prstGeom prst="roundRect">
            <a:avLst/>
          </a:prstGeom>
          <a:solidFill>
            <a:srgbClr val="EFF6FC"/>
          </a:solidFill>
          <a:ln>
            <a:solidFill>
              <a:srgbClr val="D7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31520" y="3429000"/>
            <a:ext cx="82296" cy="1600200"/>
          </a:xfrm>
          <a:prstGeom prst="rect">
            <a:avLst/>
          </a:prstGeom>
          <a:solidFill>
            <a:srgbClr val="2369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60120" y="3593592"/>
            <a:ext cx="2880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 b="1">
                <a:solidFill>
                  <a:srgbClr val="142341"/>
                </a:solidFill>
                <a:latin typeface="Aptos"/>
              </a:defRPr>
            </a:pPr>
            <a:r>
              <a:t>Automatic execution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60120" y="4087368"/>
            <a:ext cx="2880360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283241"/>
                </a:solidFill>
                <a:latin typeface="Aptos"/>
              </a:defRPr>
            </a:pPr>
            <a:r>
              <a:t>Runs pending tasks when due.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434840" y="3429000"/>
            <a:ext cx="3291840" cy="1600200"/>
          </a:xfrm>
          <a:prstGeom prst="roundRect">
            <a:avLst/>
          </a:prstGeom>
          <a:solidFill>
            <a:srgbClr val="EFF6FC"/>
          </a:solidFill>
          <a:ln>
            <a:solidFill>
              <a:srgbClr val="D7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434840" y="3429000"/>
            <a:ext cx="82296" cy="1600200"/>
          </a:xfrm>
          <a:prstGeom prst="rect">
            <a:avLst/>
          </a:prstGeom>
          <a:solidFill>
            <a:srgbClr val="0091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663440" y="3593592"/>
            <a:ext cx="2880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 b="1">
                <a:solidFill>
                  <a:srgbClr val="142341"/>
                </a:solidFill>
                <a:latin typeface="Aptos"/>
              </a:defRPr>
            </a:pPr>
            <a:r>
              <a:t>Status tracking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663440" y="4087368"/>
            <a:ext cx="2880360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283241"/>
                </a:solidFill>
                <a:latin typeface="Aptos"/>
              </a:defRPr>
            </a:pPr>
            <a:r>
              <a:t>Marks commands as Completed or Failed.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138160" y="3429000"/>
            <a:ext cx="3291840" cy="1600200"/>
          </a:xfrm>
          <a:prstGeom prst="roundRect">
            <a:avLst/>
          </a:prstGeom>
          <a:solidFill>
            <a:srgbClr val="EFF6FC"/>
          </a:solidFill>
          <a:ln>
            <a:solidFill>
              <a:srgbClr val="D7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138160" y="3429000"/>
            <a:ext cx="82296" cy="1600200"/>
          </a:xfrm>
          <a:prstGeom prst="rect">
            <a:avLst/>
          </a:prstGeom>
          <a:solidFill>
            <a:srgbClr val="F096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366760" y="3593592"/>
            <a:ext cx="2880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 b="1">
                <a:solidFill>
                  <a:srgbClr val="142341"/>
                </a:solidFill>
                <a:latin typeface="Aptos"/>
              </a:defRPr>
            </a:pPr>
            <a:r>
              <a:t>Execution log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66760" y="4087368"/>
            <a:ext cx="2880360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283241"/>
                </a:solidFill>
                <a:latin typeface="Aptos"/>
              </a:defRPr>
            </a:pPr>
            <a:r>
              <a:t>Records timestamp, status, and command output.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56032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700" b="1">
                <a:solidFill>
                  <a:srgbClr val="142341"/>
                </a:solidFill>
                <a:latin typeface="Aptos"/>
              </a:defRPr>
            </a:pPr>
            <a:r>
              <a:t>5. Technologies Used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868680"/>
            <a:ext cx="10972800" cy="45720"/>
          </a:xfrm>
          <a:prstGeom prst="rect">
            <a:avLst/>
          </a:prstGeom>
          <a:solidFill>
            <a:srgbClr val="0091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109960" y="6473952"/>
            <a:ext cx="457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0">
                <a:solidFill>
                  <a:srgbClr val="646E7D"/>
                </a:solidFill>
                <a:latin typeface="Aptos"/>
              </a:defRPr>
            </a:pPr>
            <a:r>
              <a:t>6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25880"/>
            <a:ext cx="5212080" cy="1325880"/>
          </a:xfrm>
          <a:prstGeom prst="roundRect">
            <a:avLst/>
          </a:prstGeom>
          <a:solidFill>
            <a:srgbClr val="EFF6FC"/>
          </a:solidFill>
          <a:ln>
            <a:solidFill>
              <a:srgbClr val="D7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325880"/>
            <a:ext cx="82296" cy="1325880"/>
          </a:xfrm>
          <a:prstGeom prst="rect">
            <a:avLst/>
          </a:prstGeom>
          <a:solidFill>
            <a:srgbClr val="2369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490472"/>
            <a:ext cx="4800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 b="1">
                <a:solidFill>
                  <a:srgbClr val="142341"/>
                </a:solidFill>
                <a:latin typeface="Aptos"/>
              </a:defRPr>
            </a:pPr>
            <a:r>
              <a:t>Python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1984248"/>
            <a:ext cx="4800600" cy="576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283241"/>
                </a:solidFill>
                <a:latin typeface="Aptos"/>
              </a:defRPr>
            </a:pPr>
            <a:r>
              <a:t>Main programming language for scheduler logic.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325880"/>
            <a:ext cx="5212080" cy="1325880"/>
          </a:xfrm>
          <a:prstGeom prst="roundRect">
            <a:avLst/>
          </a:prstGeom>
          <a:solidFill>
            <a:srgbClr val="EFF6FC"/>
          </a:solidFill>
          <a:ln>
            <a:solidFill>
              <a:srgbClr val="D7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217920" y="1325880"/>
            <a:ext cx="82296" cy="1325880"/>
          </a:xfrm>
          <a:prstGeom prst="rect">
            <a:avLst/>
          </a:prstGeom>
          <a:solidFill>
            <a:srgbClr val="0091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46520" y="1490472"/>
            <a:ext cx="4800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 b="1">
                <a:solidFill>
                  <a:srgbClr val="142341"/>
                </a:solidFill>
                <a:latin typeface="Aptos"/>
              </a:defRPr>
            </a:pPr>
            <a:r>
              <a:t>Linux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46520" y="1984248"/>
            <a:ext cx="4800600" cy="576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283241"/>
                </a:solidFill>
                <a:latin typeface="Aptos"/>
              </a:defRPr>
            </a:pPr>
            <a:r>
              <a:t>Environment where commands and programs run.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2971800"/>
            <a:ext cx="5212080" cy="1325880"/>
          </a:xfrm>
          <a:prstGeom prst="roundRect">
            <a:avLst/>
          </a:prstGeom>
          <a:solidFill>
            <a:srgbClr val="EFF6FC"/>
          </a:solidFill>
          <a:ln>
            <a:solidFill>
              <a:srgbClr val="D7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31520" y="2971800"/>
            <a:ext cx="82296" cy="1325880"/>
          </a:xfrm>
          <a:prstGeom prst="rect">
            <a:avLst/>
          </a:prstGeom>
          <a:solidFill>
            <a:srgbClr val="F096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0120" y="3136392"/>
            <a:ext cx="4800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 b="1">
                <a:solidFill>
                  <a:srgbClr val="142341"/>
                </a:solidFill>
                <a:latin typeface="Aptos"/>
              </a:defRPr>
            </a:pPr>
            <a:r>
              <a:t>subprocess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0120" y="3630168"/>
            <a:ext cx="4800600" cy="576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283241"/>
                </a:solidFill>
                <a:latin typeface="Aptos"/>
              </a:defRPr>
            </a:pPr>
            <a:r>
              <a:t>Starts external commands and captures output.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17920" y="2971800"/>
            <a:ext cx="5212080" cy="1325880"/>
          </a:xfrm>
          <a:prstGeom prst="roundRect">
            <a:avLst/>
          </a:prstGeom>
          <a:solidFill>
            <a:srgbClr val="EFF6FC"/>
          </a:solidFill>
          <a:ln>
            <a:solidFill>
              <a:srgbClr val="D7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17920" y="2971800"/>
            <a:ext cx="82296" cy="1325880"/>
          </a:xfrm>
          <a:prstGeom prst="rect">
            <a:avLst/>
          </a:prstGeom>
          <a:solidFill>
            <a:srgbClr val="2369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46520" y="3136392"/>
            <a:ext cx="4800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 b="1">
                <a:solidFill>
                  <a:srgbClr val="142341"/>
                </a:solidFill>
                <a:latin typeface="Aptos"/>
              </a:defRPr>
            </a:pPr>
            <a:r>
              <a:t>JSON + file handling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46520" y="3630168"/>
            <a:ext cx="4800600" cy="576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283241"/>
                </a:solidFill>
                <a:latin typeface="Aptos"/>
              </a:defRPr>
            </a:pPr>
            <a:r>
              <a:t>Stores tasks and writes execution logs.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" y="4983480"/>
            <a:ext cx="102412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 b="1">
                <a:solidFill>
                  <a:srgbClr val="142341"/>
                </a:solidFill>
                <a:latin typeface="Aptos"/>
              </a:defRPr>
            </a:pPr>
            <a:r>
              <a:t>No third-party Python packages are required for this prototype.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56032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700" b="1">
                <a:solidFill>
                  <a:srgbClr val="142341"/>
                </a:solidFill>
                <a:latin typeface="Aptos"/>
              </a:defRPr>
            </a:pPr>
            <a:r>
              <a:t>6. Live Demonstration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868680"/>
            <a:ext cx="10972800" cy="45720"/>
          </a:xfrm>
          <a:prstGeom prst="rect">
            <a:avLst/>
          </a:prstGeom>
          <a:solidFill>
            <a:srgbClr val="0091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109960" y="6473952"/>
            <a:ext cx="457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0">
                <a:solidFill>
                  <a:srgbClr val="646E7D"/>
                </a:solidFill>
                <a:latin typeface="Aptos"/>
              </a:defRPr>
            </a:pPr>
            <a:r>
              <a:t>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23444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 b="1">
                <a:solidFill>
                  <a:srgbClr val="142341"/>
                </a:solidFill>
                <a:latin typeface="Aptos"/>
              </a:defRPr>
            </a:pPr>
            <a:r>
              <a:t>Run the project from a Linux terminal: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1828800"/>
            <a:ext cx="10515600" cy="914400"/>
          </a:xfrm>
          <a:prstGeom prst="roundRect">
            <a:avLst/>
          </a:prstGeom>
          <a:solidFill>
            <a:srgbClr val="1423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2057400"/>
            <a:ext cx="9875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200" b="1">
                <a:solidFill>
                  <a:srgbClr val="FFFFFF"/>
                </a:solidFill>
                <a:latin typeface="Consolas"/>
              </a:defRPr>
            </a:pPr>
            <a:r>
              <a:t>python3 scheduler.py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3154680"/>
            <a:ext cx="4937760" cy="1920240"/>
          </a:xfrm>
          <a:prstGeom prst="roundRect">
            <a:avLst/>
          </a:prstGeom>
          <a:solidFill>
            <a:srgbClr val="EFF6FC"/>
          </a:solidFill>
          <a:ln>
            <a:solidFill>
              <a:srgbClr val="D7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22960" y="3154680"/>
            <a:ext cx="82296" cy="1920240"/>
          </a:xfrm>
          <a:prstGeom prst="rect">
            <a:avLst/>
          </a:prstGeom>
          <a:solidFill>
            <a:srgbClr val="0091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51560" y="3319272"/>
            <a:ext cx="4526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 b="1">
                <a:solidFill>
                  <a:srgbClr val="142341"/>
                </a:solidFill>
                <a:latin typeface="Aptos"/>
              </a:defRPr>
            </a:pPr>
            <a:r>
              <a:t>Demo inputs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" y="3813048"/>
            <a:ext cx="4526280" cy="11704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283241"/>
                </a:solidFill>
                <a:latin typeface="Aptos"/>
              </a:defRPr>
            </a:pPr>
            <a:r>
              <a:t>Task name: Demo Task</a:t>
            </a:r>
          </a:p>
          <a:p>
            <a:pPr>
              <a:spcAft>
                <a:spcPts val="800"/>
              </a:spcAft>
              <a:defRPr sz="1400" b="0">
                <a:solidFill>
                  <a:srgbClr val="283241"/>
                </a:solidFill>
                <a:latin typeface="Aptos"/>
              </a:defRPr>
            </a:pPr>
            <a:r>
              <a:t>Command: echo Hello Hackathon</a:t>
            </a:r>
          </a:p>
          <a:p>
            <a:pPr>
              <a:spcAft>
                <a:spcPts val="800"/>
              </a:spcAft>
              <a:defRPr sz="1400" b="0">
                <a:solidFill>
                  <a:srgbClr val="283241"/>
                </a:solidFill>
                <a:latin typeface="Aptos"/>
              </a:defRPr>
            </a:pPr>
            <a:r>
              <a:t>Delay: 10 seconds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3154680"/>
            <a:ext cx="4937760" cy="1920240"/>
          </a:xfrm>
          <a:prstGeom prst="roundRect">
            <a:avLst/>
          </a:prstGeom>
          <a:solidFill>
            <a:srgbClr val="EFF6FC"/>
          </a:solidFill>
          <a:ln>
            <a:solidFill>
              <a:srgbClr val="D7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17920" y="3154680"/>
            <a:ext cx="82296" cy="1920240"/>
          </a:xfrm>
          <a:prstGeom prst="rect">
            <a:avLst/>
          </a:prstGeom>
          <a:solidFill>
            <a:srgbClr val="F096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319272"/>
            <a:ext cx="4526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 b="1">
                <a:solidFill>
                  <a:srgbClr val="142341"/>
                </a:solidFill>
                <a:latin typeface="Aptos"/>
              </a:defRPr>
            </a:pPr>
            <a:r>
              <a:t>Expected result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46520" y="3813048"/>
            <a:ext cx="4526280" cy="11704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283241"/>
                </a:solidFill>
                <a:latin typeface="Aptos"/>
              </a:defRPr>
            </a:pPr>
            <a:r>
              <a:t>1. Choose “Start scheduler”</a:t>
            </a:r>
          </a:p>
          <a:p>
            <a:pPr>
              <a:spcAft>
                <a:spcPts val="800"/>
              </a:spcAft>
              <a:defRPr sz="1400" b="0">
                <a:solidFill>
                  <a:srgbClr val="283241"/>
                </a:solidFill>
                <a:latin typeface="Aptos"/>
              </a:defRPr>
            </a:pPr>
            <a:r>
              <a:t>2. Wait about 10 seconds</a:t>
            </a:r>
          </a:p>
          <a:p>
            <a:pPr>
              <a:spcAft>
                <a:spcPts val="800"/>
              </a:spcAft>
              <a:defRPr sz="1400" b="0">
                <a:solidFill>
                  <a:srgbClr val="283241"/>
                </a:solidFill>
                <a:latin typeface="Aptos"/>
              </a:defRPr>
            </a:pPr>
            <a:r>
              <a:t>3. See “Status: Completed”</a:t>
            </a:r>
          </a:p>
          <a:p>
            <a:pPr>
              <a:spcAft>
                <a:spcPts val="800"/>
              </a:spcAft>
              <a:defRPr sz="1400" b="0">
                <a:solidFill>
                  <a:srgbClr val="283241"/>
                </a:solidFill>
                <a:latin typeface="Aptos"/>
              </a:defRPr>
            </a:pPr>
            <a:r>
              <a:t>4. Check scheduler.log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5577840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283241"/>
                </a:solidFill>
                <a:latin typeface="Aptos"/>
              </a:defRPr>
            </a:pPr>
            <a:r>
              <a:t>Menu: 1 = Schedule  |  2 = View tasks  |  3 = Start  |  4 = Exit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56032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700" b="1">
                <a:solidFill>
                  <a:srgbClr val="142341"/>
                </a:solidFill>
                <a:latin typeface="Aptos"/>
              </a:defRPr>
            </a:pPr>
            <a:r>
              <a:t>7. Limitations &amp; Future Enhancements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868680"/>
            <a:ext cx="10972800" cy="45720"/>
          </a:xfrm>
          <a:prstGeom prst="rect">
            <a:avLst/>
          </a:prstGeom>
          <a:solidFill>
            <a:srgbClr val="0091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109960" y="6473952"/>
            <a:ext cx="457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0">
                <a:solidFill>
                  <a:srgbClr val="646E7D"/>
                </a:solidFill>
                <a:latin typeface="Aptos"/>
              </a:defRPr>
            </a:pPr>
            <a:r>
              <a:t>8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5120640" cy="3383280"/>
          </a:xfrm>
          <a:prstGeom prst="roundRect">
            <a:avLst/>
          </a:prstGeom>
          <a:solidFill>
            <a:srgbClr val="EFF6FC"/>
          </a:solidFill>
          <a:ln>
            <a:solidFill>
              <a:srgbClr val="D7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371600"/>
            <a:ext cx="82296" cy="3383280"/>
          </a:xfrm>
          <a:prstGeom prst="rect">
            <a:avLst/>
          </a:prstGeom>
          <a:solidFill>
            <a:srgbClr val="F096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536192"/>
            <a:ext cx="470915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 b="1">
                <a:solidFill>
                  <a:srgbClr val="142341"/>
                </a:solidFill>
                <a:latin typeface="Aptos"/>
              </a:defRPr>
            </a:pPr>
            <a:r>
              <a:t>Current prototype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2029967"/>
            <a:ext cx="4709159" cy="2633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283241"/>
                </a:solidFill>
                <a:latin typeface="Aptos"/>
              </a:defRPr>
            </a:pPr>
            <a:r>
              <a:t>• Scheduler must remain running.</a:t>
            </a:r>
          </a:p>
          <a:p>
            <a:pPr>
              <a:spcAft>
                <a:spcPts val="800"/>
              </a:spcAft>
              <a:defRPr sz="1400" b="0">
                <a:solidFill>
                  <a:srgbClr val="283241"/>
                </a:solidFill>
                <a:latin typeface="Aptos"/>
              </a:defRPr>
            </a:pPr>
            <a:r>
              <a:t>• Uses delay-based scheduling.</a:t>
            </a:r>
          </a:p>
          <a:p>
            <a:pPr>
              <a:spcAft>
                <a:spcPts val="800"/>
              </a:spcAft>
              <a:defRPr sz="1400" b="0">
                <a:solidFill>
                  <a:srgbClr val="283241"/>
                </a:solidFill>
                <a:latin typeface="Aptos"/>
              </a:defRPr>
            </a:pPr>
            <a:r>
              <a:t>• Tasks run on the same machine.</a:t>
            </a:r>
          </a:p>
          <a:p>
            <a:pPr>
              <a:spcAft>
                <a:spcPts val="800"/>
              </a:spcAft>
              <a:defRPr sz="1400" b="0">
                <a:solidFill>
                  <a:srgbClr val="283241"/>
                </a:solidFill>
                <a:latin typeface="Aptos"/>
              </a:defRPr>
            </a:pPr>
            <a:r>
              <a:t>• Only trusted commands should be entered.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09360" y="1371600"/>
            <a:ext cx="5120640" cy="3383280"/>
          </a:xfrm>
          <a:prstGeom prst="roundRect">
            <a:avLst/>
          </a:prstGeom>
          <a:solidFill>
            <a:srgbClr val="EFF6FC"/>
          </a:solidFill>
          <a:ln>
            <a:solidFill>
              <a:srgbClr val="D7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309360" y="1371600"/>
            <a:ext cx="82296" cy="3383280"/>
          </a:xfrm>
          <a:prstGeom prst="rect">
            <a:avLst/>
          </a:prstGeom>
          <a:solidFill>
            <a:srgbClr val="0091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37960" y="1536192"/>
            <a:ext cx="470915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 b="1">
                <a:solidFill>
                  <a:srgbClr val="142341"/>
                </a:solidFill>
                <a:latin typeface="Aptos"/>
              </a:defRPr>
            </a:pPr>
            <a:r>
              <a:t>Future improvements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37960" y="2029967"/>
            <a:ext cx="4709159" cy="2633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283241"/>
                </a:solidFill>
                <a:latin typeface="Aptos"/>
              </a:defRPr>
            </a:pPr>
            <a:r>
              <a:t>• Exact date and time scheduling</a:t>
            </a:r>
          </a:p>
          <a:p>
            <a:pPr>
              <a:spcAft>
                <a:spcPts val="800"/>
              </a:spcAft>
              <a:defRPr sz="1400" b="0">
                <a:solidFill>
                  <a:srgbClr val="283241"/>
                </a:solidFill>
                <a:latin typeface="Aptos"/>
              </a:defRPr>
            </a:pPr>
            <a:r>
              <a:t>• Recurring tasks</a:t>
            </a:r>
          </a:p>
          <a:p>
            <a:pPr>
              <a:spcAft>
                <a:spcPts val="800"/>
              </a:spcAft>
              <a:defRPr sz="1400" b="0">
                <a:solidFill>
                  <a:srgbClr val="283241"/>
                </a:solidFill>
                <a:latin typeface="Aptos"/>
              </a:defRPr>
            </a:pPr>
            <a:r>
              <a:t>• Cancel, pause, and edit tasks</a:t>
            </a:r>
          </a:p>
          <a:p>
            <a:pPr>
              <a:spcAft>
                <a:spcPts val="800"/>
              </a:spcAft>
              <a:defRPr sz="1400" b="0">
                <a:solidFill>
                  <a:srgbClr val="283241"/>
                </a:solidFill>
                <a:latin typeface="Aptos"/>
              </a:defRPr>
            </a:pPr>
            <a:r>
              <a:t>• Background service</a:t>
            </a:r>
          </a:p>
          <a:p>
            <a:pPr>
              <a:spcAft>
                <a:spcPts val="800"/>
              </a:spcAft>
              <a:defRPr sz="1400" b="0">
                <a:solidFill>
                  <a:srgbClr val="283241"/>
                </a:solidFill>
                <a:latin typeface="Aptos"/>
              </a:defRPr>
            </a:pPr>
            <a:r>
              <a:t>• Web dashboard and notifications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52578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 b="1">
                <a:solidFill>
                  <a:srgbClr val="142341"/>
                </a:solidFill>
                <a:latin typeface="Aptos"/>
              </a:defRPr>
            </a:pPr>
            <a:r>
              <a:t>Linux cron can be integrated for more robust system-level scheduling.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234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731520"/>
            <a:ext cx="106070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3000" b="1">
                <a:solidFill>
                  <a:srgbClr val="FFFFFF"/>
                </a:solidFill>
                <a:latin typeface="Aptos"/>
              </a:defRPr>
            </a:pPr>
            <a:r>
              <a:t>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1691640"/>
            <a:ext cx="987552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500" b="0">
                <a:solidFill>
                  <a:srgbClr val="FFFFFF"/>
                </a:solidFill>
                <a:latin typeface="Aptos"/>
              </a:defRPr>
            </a:pPr>
            <a:r>
              <a:t>The Linux Job Scheduler demonstrates how tasks can be scheduled, executed automatically, and tracked through logs.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68680" y="3886200"/>
            <a:ext cx="3200400" cy="1234440"/>
          </a:xfrm>
          <a:prstGeom prst="roundRect">
            <a:avLst/>
          </a:prstGeom>
          <a:solidFill>
            <a:srgbClr val="EFF6FC"/>
          </a:solidFill>
          <a:ln>
            <a:solidFill>
              <a:srgbClr val="D7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68680" y="3886200"/>
            <a:ext cx="82296" cy="1234440"/>
          </a:xfrm>
          <a:prstGeom prst="rect">
            <a:avLst/>
          </a:prstGeom>
          <a:solidFill>
            <a:srgbClr val="0091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4050791"/>
            <a:ext cx="2788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 b="1">
                <a:solidFill>
                  <a:srgbClr val="142341"/>
                </a:solidFill>
                <a:latin typeface="Aptos"/>
              </a:defRPr>
            </a:pPr>
            <a:r>
              <a:t>Simple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4544568"/>
            <a:ext cx="2788920" cy="484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283241"/>
                </a:solidFill>
                <a:latin typeface="Aptos"/>
              </a:defRPr>
            </a:pPr>
            <a:r>
              <a:t>Easy menu-driven prototype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80560" y="3886200"/>
            <a:ext cx="3200400" cy="1234440"/>
          </a:xfrm>
          <a:prstGeom prst="roundRect">
            <a:avLst/>
          </a:prstGeom>
          <a:solidFill>
            <a:srgbClr val="EFF6FC"/>
          </a:solidFill>
          <a:ln>
            <a:solidFill>
              <a:srgbClr val="D7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480560" y="3886200"/>
            <a:ext cx="82296" cy="1234440"/>
          </a:xfrm>
          <a:prstGeom prst="rect">
            <a:avLst/>
          </a:prstGeom>
          <a:solidFill>
            <a:srgbClr val="2369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709160" y="4050791"/>
            <a:ext cx="2788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 b="1">
                <a:solidFill>
                  <a:srgbClr val="142341"/>
                </a:solidFill>
                <a:latin typeface="Aptos"/>
              </a:defRPr>
            </a:pPr>
            <a:r>
              <a:t>Useful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09160" y="4544568"/>
            <a:ext cx="2788920" cy="484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283241"/>
                </a:solidFill>
                <a:latin typeface="Aptos"/>
              </a:defRPr>
            </a:pPr>
            <a:r>
              <a:t>Reduces repetitive work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92440" y="3886200"/>
            <a:ext cx="3200400" cy="1234440"/>
          </a:xfrm>
          <a:prstGeom prst="roundRect">
            <a:avLst/>
          </a:prstGeom>
          <a:solidFill>
            <a:srgbClr val="EFF6FC"/>
          </a:solidFill>
          <a:ln>
            <a:solidFill>
              <a:srgbClr val="D7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092440" y="3886200"/>
            <a:ext cx="82296" cy="1234440"/>
          </a:xfrm>
          <a:prstGeom prst="rect">
            <a:avLst/>
          </a:prstGeom>
          <a:solidFill>
            <a:srgbClr val="F096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21040" y="4050791"/>
            <a:ext cx="2788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 b="1">
                <a:solidFill>
                  <a:srgbClr val="142341"/>
                </a:solidFill>
                <a:latin typeface="Aptos"/>
              </a:defRPr>
            </a:pPr>
            <a:r>
              <a:t>Extendable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21040" y="4544568"/>
            <a:ext cx="2788920" cy="484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283241"/>
                </a:solidFill>
                <a:latin typeface="Aptos"/>
              </a:defRPr>
            </a:pPr>
            <a:r>
              <a:t>Ready for future features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589788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 b="1">
                <a:solidFill>
                  <a:srgbClr val="82E1E1"/>
                </a:solidFill>
                <a:latin typeface="Aptos"/>
              </a:defRPr>
            </a:pPr>
            <a:r>
              <a:t>Thank you • Questions?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